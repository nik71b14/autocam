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73736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1D9E75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233172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4B42A8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29260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6B7783">
              <a:alpha val="8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AutoCAM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13232" y="260604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generation for learned CNC toolpath planning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+ shape prior</a:t>
            </a:r>
            <a:pPr indent="0" marL="0">
              <a:buNone/>
            </a:pPr>
            <a:r>
              <a:rPr lang="en-US" sz="1400" dirty="0">
                <a:solidFill>
                  <a:srgbClr val="9A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deterministic toolpaths   ·   </a:t>
            </a:r>
            <a:pPr indent="0" marL="0">
              <a:buNone/>
            </a:pPr>
            <a:r>
              <a:rPr lang="en-US" sz="1400" b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overview — feature &amp; part taxonomies · two-phase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and the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CAM is blocked by data, not by models: there is essentially no public corpus of CNC geometry-to-toolpath examples. AutoCAM manufactures that corpus synthetically, then uses it to train a toolpath-generating model.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350008"/>
            <a:ext cx="457200" cy="45720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2368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gap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31089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dataset maps part geometry to valid machining toolpaths. This is the single bottleneck for an LLM/RL toolpath planner.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25696" y="20574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2350008"/>
            <a:ext cx="457200" cy="457200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94376" y="2368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by inversion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18304" y="31089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Toolpath→geometry is deterministic and cheap. We synthesise valid (geometry → toolpath → return) tuples instead of searching for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84464" y="2057400"/>
            <a:ext cx="3529584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8784" y="2350008"/>
            <a:ext cx="457200" cy="457200"/>
          </a:xfrm>
          <a:prstGeom prst="ellipse">
            <a:avLst/>
          </a:prstGeom>
          <a:solidFill>
            <a:srgbClr val="B87514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53144" y="2368296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system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577072" y="3108960"/>
            <a:ext cx="2962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builds the labelled dataset. Phase 2 trains an RL policy in a simulator that can exceed the dataset's own quality.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principle: inversion with a shape prior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shape is generated already machinable and the toolpath is produced by deterministic strategies, physical enforcement becomes proactive — engagement and MRR limits are respected up front, not repaired move-by-move.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BEEF0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A1F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inversion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A4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moves → carve → whatever shape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832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diversity and minimum cost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yields geometrically arbitrary blobs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5A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RL model trained on it generalises to blobs, not to real parts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81928" y="214884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E4F2ED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423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5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 prior (chosen)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F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plausible shape → deterministic toolpath → carve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338328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Machinability guaranteed by construction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stays part-like and sensible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come from the confirmation carve, so they are process-true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machinable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115568"/>
            <a:ext cx="146304" cy="146304"/>
          </a:xfrm>
          <a:prstGeom prst="ellipse">
            <a:avLst/>
          </a:prstGeom>
          <a:solidFill>
            <a:srgbClr val="ECEBFA"/>
          </a:solidFill>
          <a:ln w="12700">
            <a:solidFill>
              <a:srgbClr val="3831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volumetric (2.5D)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891333" y="1115568"/>
            <a:ext cx="146304" cy="146304"/>
          </a:xfrm>
          <a:prstGeom prst="ellipse">
            <a:avLst/>
          </a:prstGeom>
          <a:solidFill>
            <a:srgbClr val="E4F2ED"/>
          </a:solidFill>
          <a:ln w="12700">
            <a:solidFill>
              <a:srgbClr val="0B5A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92501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Holes / axial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0890" y="1115568"/>
            <a:ext cx="146304" cy="146304"/>
          </a:xfrm>
          <a:prstGeom prst="ellipse">
            <a:avLst/>
          </a:prstGeom>
          <a:solidFill>
            <a:srgbClr val="F7ECD9"/>
          </a:solidFill>
          <a:ln w="12700">
            <a:solidFill>
              <a:srgbClr val="8A560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2058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/ raised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4029" y="1115568"/>
            <a:ext cx="146304" cy="146304"/>
          </a:xfrm>
          <a:prstGeom prst="ellipse">
            <a:avLst/>
          </a:prstGeom>
          <a:solidFill>
            <a:srgbClr val="EEF1F3"/>
          </a:solidFill>
          <a:ln w="12700">
            <a:solidFill>
              <a:srgbClr val="4A5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5197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detail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63586" y="1115568"/>
            <a:ext cx="146304" cy="146304"/>
          </a:xfrm>
          <a:prstGeom prst="ellipse">
            <a:avLst/>
          </a:prstGeom>
          <a:solidFill>
            <a:srgbClr val="E7F0FA"/>
          </a:solidFill>
          <a:ln w="12700">
            <a:solidFill>
              <a:srgbClr val="1E4E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4754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/ freeform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160520"/>
                <a:gridCol w="3794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Machinable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Producing 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Governing 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7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3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pocket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/ contour-parallel / zig-zag roughing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corner radius ≥ tool radius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3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Facing / open pocket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 face passes to a plane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Stepover ≤ tool diameter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3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/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or trochoidal milling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≥ tool Ø (else trochoidal)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831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/ shoulder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pass + Z-level roughing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≤ tool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5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Hole (through / blind)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Drilling or helical interpolation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Ø set by tool; helical for large 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5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Counterbore / countersink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Step-drill or helical, coaxial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Coaxial with the parent hole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A56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Boss / island (+ ribs)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C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Contour milling around the standing 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/ rib thickness ≥ minimum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Chamfer / edge break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Chamfer or lead tool along the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Angle set by tool geometry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Fillet / 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Ball / bull-nose tool along the edge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fillet = tool radius (forced)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profile / contour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pass with cutter compensation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Climb/conventional; radius comp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4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sculptured surface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/ raster + waterline finishing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A46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Monotone in Z; scallop set by stepover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66928" y="64190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invariants (all features): monotone along the tool axis · internal radius ≥ tool radius · min channel width ≥ tool Ø · min wall thickness · depth ≤ reach · discretised Z levels.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of part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fixes the feature mix, which in turn selects the generator (A height-field · B subtractive-by-construction · C parametric templates) and the realism source.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182880" cy="18288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Plates &amp; flanges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3957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circles, hole patterns, profiles, shallow pockets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+ C templates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tables (DIN/ANSI) + LLM prior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25696" y="17373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1993392"/>
            <a:ext cx="182880" cy="182880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192024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Brackets &amp; structural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00016" y="23957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slots, ribs, mounting holes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0016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prior + templates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0496" y="1993392"/>
            <a:ext cx="182880" cy="182880"/>
          </a:xfrm>
          <a:prstGeom prst="ellipse">
            <a:avLst/>
          </a:prstGeom>
          <a:solidFill>
            <a:srgbClr val="B87514"/>
          </a:solidFill>
          <a:ln/>
        </p:spPr>
      </p:sp>
      <p:sp>
        <p:nvSpPr>
          <p:cNvPr id="16" name="Text 14"/>
          <p:cNvSpPr/>
          <p:nvPr/>
        </p:nvSpPr>
        <p:spPr>
          <a:xfrm>
            <a:off x="8814816" y="1920240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Enclosures &amp; containers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558784" y="2395728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8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pockets, thin walls, cavities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58784" y="294436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B8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(wall-thickness critical)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B875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prior; exercises multi-dexel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78224"/>
            <a:ext cx="182880" cy="182880"/>
          </a:xfrm>
          <a:prstGeom prst="ellipse">
            <a:avLst/>
          </a:prstGeom>
          <a:solidFill>
            <a:srgbClr val="1E4E7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0050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Manifolds &amp; valve bodies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1248" y="44805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holes, intersecting pockets, internal passages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high complexity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Templates; hardest, closed cavities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5696" y="3822192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4078224"/>
            <a:ext cx="182880" cy="18288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40050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Freeform &amp; sculptured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700016" y="44805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Molds, dies, aero / ergonomic surfaces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0016" y="50292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+ 3D finishing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families; coverage via 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464" y="3822192"/>
            <a:ext cx="3529584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0496" y="4078224"/>
            <a:ext cx="182880" cy="182880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31" name="Text 29"/>
          <p:cNvSpPr/>
          <p:nvPr/>
        </p:nvSpPr>
        <p:spPr>
          <a:xfrm>
            <a:off x="8814816" y="4005072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Housings &amp; bosses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558784" y="4480560"/>
            <a:ext cx="3026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features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Coaxial bores, faced tops, raised bosses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58784" y="50292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/ C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+ LLM prior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taxonomies drive generation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classifications are the top of the funnel: they turn an abstract “make realistic parts” goal into a concrete, deterministic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53212" y="283464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ECEB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6172" y="3035808"/>
            <a:ext cx="438912" cy="438912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6" name="Text 4"/>
          <p:cNvSpPr/>
          <p:nvPr/>
        </p:nvSpPr>
        <p:spPr>
          <a:xfrm>
            <a:off x="1376172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228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category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9516" y="38953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83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Plates, brackets, manifolds …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42616" y="3611880"/>
            <a:ext cx="155448" cy="0"/>
          </a:xfrm>
          <a:prstGeom prst="line">
            <a:avLst/>
          </a:prstGeom>
          <a:noFill/>
          <a:ln w="25400">
            <a:solidFill>
              <a:srgbClr val="6B778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02636" y="283464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E7F0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5596" y="3035808"/>
            <a:ext cx="438912" cy="438912"/>
          </a:xfrm>
          <a:prstGeom prst="ellipse">
            <a:avLst/>
          </a:prstGeom>
          <a:solidFill>
            <a:srgbClr val="1E4E7A"/>
          </a:solidFill>
          <a:ln/>
        </p:spPr>
      </p:sp>
      <p:sp>
        <p:nvSpPr>
          <p:cNvPr id="12" name="Text 10"/>
          <p:cNvSpPr/>
          <p:nvPr/>
        </p:nvSpPr>
        <p:spPr>
          <a:xfrm>
            <a:off x="3625596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30652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48940" y="38953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4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machinable features occur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3611880"/>
            <a:ext cx="155448" cy="0"/>
          </a:xfrm>
          <a:prstGeom prst="line">
            <a:avLst/>
          </a:prstGeom>
          <a:noFill/>
          <a:ln w="25400">
            <a:solidFill>
              <a:srgbClr val="6B778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52060" y="283464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E4F2ED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75020" y="3035808"/>
            <a:ext cx="438912" cy="438912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875020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0076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A/B/C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98364" y="38953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Height-field / subtractive / template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41464" y="3611880"/>
            <a:ext cx="155448" cy="0"/>
          </a:xfrm>
          <a:prstGeom prst="line">
            <a:avLst/>
          </a:prstGeom>
          <a:noFill/>
          <a:ln w="25400">
            <a:solidFill>
              <a:srgbClr val="6B778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1484" y="283464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F7ECD9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24444" y="3035808"/>
            <a:ext cx="438912" cy="438912"/>
          </a:xfrm>
          <a:prstGeom prst="ellipse">
            <a:avLst/>
          </a:prstGeom>
          <a:solidFill>
            <a:srgbClr val="B87514"/>
          </a:solidFill>
          <a:ln/>
        </p:spPr>
      </p:sp>
      <p:sp>
        <p:nvSpPr>
          <p:cNvPr id="24" name="Text 22"/>
          <p:cNvSpPr/>
          <p:nvPr/>
        </p:nvSpPr>
        <p:spPr>
          <a:xfrm>
            <a:off x="8124444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29500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strategy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47788" y="38953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5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Stepover &amp; stepdown within limits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90888" y="3611880"/>
            <a:ext cx="155448" cy="0"/>
          </a:xfrm>
          <a:prstGeom prst="line">
            <a:avLst/>
          </a:prstGeom>
          <a:noFill/>
          <a:ln w="25400">
            <a:solidFill>
              <a:srgbClr val="6B778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50908" y="2834640"/>
            <a:ext cx="2084832" cy="1554480"/>
          </a:xfrm>
          <a:prstGeom prst="roundRect">
            <a:avLst>
              <a:gd name="adj" fmla="val 5294"/>
            </a:avLst>
          </a:prstGeom>
          <a:solidFill>
            <a:srgbClr val="EEF1F3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73868" y="3035808"/>
            <a:ext cx="438912" cy="438912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30" name="Text 28"/>
          <p:cNvSpPr/>
          <p:nvPr/>
        </p:nvSpPr>
        <p:spPr>
          <a:xfrm>
            <a:off x="1037386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78924" y="3547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Toolpath + labels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97212" y="3895344"/>
            <a:ext cx="17922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gcode with process-true returns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MAP-Elites sits over the generator parameters to control dataset coverage; the morphological-opening validator gates every composition for machinability.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dataset generation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analytic and deterministic. The carver enters once, at the end, as a labeller.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EF1F3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3816" y="1508760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 meta-programmer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generators, once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290572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CEB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" y="2290572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383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generation · A / B / C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in Python · MAP-Elites coverage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37460" y="2093976"/>
            <a:ext cx="0" cy="160020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3072384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CEB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" y="3072384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383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opening + validator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machinability gate · rest-material label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37460" y="2875788"/>
            <a:ext cx="0" cy="160020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3854196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CEB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" y="3854196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383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toolpath → gcode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within tool limits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37460" y="3657600"/>
            <a:ext cx="0" cy="160020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4636008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4F2ED"/>
          </a:solidFill>
          <a:ln w="19050">
            <a:solidFill>
              <a:srgbClr val="7FC8B2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3816" y="4636008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· confirmation carve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gcode → process-true labels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537460" y="4439412"/>
            <a:ext cx="0" cy="160020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" y="5417820"/>
            <a:ext cx="3703320" cy="548640"/>
          </a:xfrm>
          <a:prstGeom prst="roundRect">
            <a:avLst>
              <a:gd name="adj" fmla="val 15000"/>
            </a:avLst>
          </a:prstGeom>
          <a:solidFill>
            <a:srgbClr val="EEF1F3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3816" y="5417820"/>
            <a:ext cx="3447288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→ toolpath → return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37460" y="5221224"/>
            <a:ext cx="0" cy="160020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246120" y="4928616"/>
            <a:ext cx="1051560" cy="219456"/>
          </a:xfrm>
          <a:prstGeom prst="rect">
            <a:avLst>
              <a:gd name="adj" fmla="val 12500"/>
            </a:avLst>
          </a:prstGeom>
          <a:solidFill>
            <a:srgbClr val="0F7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92040" y="1618488"/>
            <a:ext cx="365760" cy="365760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1554480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meta-programmer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generator programs once, composing vetted machinability-safe primitives — a realistic-part prior. Sampling stays deterministic in Python.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2400300"/>
            <a:ext cx="365760" cy="36576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2392" y="2336292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generation A / B / C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Height-field, subtractive-by-construction and template generators, weighted; MAP-Elites enforces coverage of the behaviour space, not one optimum.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182112"/>
            <a:ext cx="365760" cy="36576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22392" y="3118104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+ validator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the target onto the machinable set, rounding internal corners to the tool radius; rejects sub-radius corners and thin walls. Residual = rest-material label.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963924"/>
            <a:ext cx="365760" cy="36576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9639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22392" y="3899916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toolpath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operation expanded by a strategy with stepover/stepdown inside tool limits — valid by construction, no search. Emits gcode.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4745736"/>
            <a:ext cx="365760" cy="365760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22392" y="4681728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· confirmation (existing)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tested gcode-in carver runs once for process-true labels: scallop height, tool-radius fillets, rest material — what the process actually yields.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92040" y="5527548"/>
            <a:ext cx="365760" cy="365760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55275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22392" y="5463540"/>
            <a:ext cx="6236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tuples (geometry → toolpath → return), with validity and realism guaranteed by construction rather than filtered post-hoc.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RL training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only bootstraps; the carver then becomes the environment where the policy beats the imitation ceiling.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703320" cy="603504"/>
          </a:xfrm>
          <a:prstGeom prst="roundRect">
            <a:avLst>
              <a:gd name="adj" fmla="val 13636"/>
            </a:avLst>
          </a:prstGeom>
          <a:solidFill>
            <a:srgbClr val="EEF1F3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3816" y="1828800"/>
            <a:ext cx="34472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(from Phase 1)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→ toolpath → return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3703320" cy="603504"/>
          </a:xfrm>
          <a:prstGeom prst="roundRect">
            <a:avLst>
              <a:gd name="adj" fmla="val 13636"/>
            </a:avLst>
          </a:prstGeom>
          <a:solidFill>
            <a:srgbClr val="ECEBFA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" y="2880360"/>
            <a:ext cx="34472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3831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· offline RL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4B4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Transformer on the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37460" y="2478024"/>
            <a:ext cx="0" cy="356616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3931920"/>
            <a:ext cx="3703320" cy="603504"/>
          </a:xfrm>
          <a:prstGeom prst="roundRect">
            <a:avLst>
              <a:gd name="adj" fmla="val 13636"/>
            </a:avLst>
          </a:prstGeom>
          <a:solidFill>
            <a:srgbClr val="E4F2ED"/>
          </a:solidFill>
          <a:ln w="19050">
            <a:solidFill>
              <a:srgbClr val="7FC8B2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" y="3931920"/>
            <a:ext cx="34472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as RL environment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→ gcode → reward · tri-dexel + engagement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37460" y="3529584"/>
            <a:ext cx="0" cy="356616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4983480"/>
            <a:ext cx="3703320" cy="603504"/>
          </a:xfrm>
          <a:prstGeom prst="roundRect">
            <a:avLst>
              <a:gd name="adj" fmla="val 13636"/>
            </a:avLst>
          </a:prstGeom>
          <a:solidFill>
            <a:srgbClr val="EEF1F3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3816" y="4983480"/>
            <a:ext cx="34472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RL model</a:t>
            </a:r>
            <a:endParaRPr lang="en-US" sz="125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6B7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exceeds the imitation ceiling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37460" y="4581144"/>
            <a:ext cx="0" cy="356616"/>
          </a:xfrm>
          <a:prstGeom prst="line">
            <a:avLst/>
          </a:prstGeom>
          <a:noFill/>
          <a:ln w="22225">
            <a:solidFill>
              <a:srgbClr val="9AA6B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06040" y="4261104"/>
            <a:ext cx="1691640" cy="237744"/>
          </a:xfrm>
          <a:prstGeom prst="rect">
            <a:avLst>
              <a:gd name="adj" fmla="val 11538"/>
            </a:avLst>
          </a:prstGeom>
          <a:solidFill>
            <a:srgbClr val="0F7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· EXTEND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434840" y="4087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reward → policy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892808"/>
            <a:ext cx="365760" cy="365760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65392" y="1828800"/>
            <a:ext cx="5093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(from Phase 1)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labelled (geometry, toolpath, return) corpus that bootstraps learning.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944368"/>
            <a:ext cx="365760" cy="365760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65392" y="2880360"/>
            <a:ext cx="5093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· offline RL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return-conditioned sequence model (Decision Transformer) learns from the data; gcode is already a token sequence, mapping cleanly onto an LLM-style model.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3995928"/>
            <a:ext cx="365760" cy="365760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5093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as RL environment (existing · extend)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paths are not valid by construction, so the carver validates them and computes true peak engagement / chip load. Needs the tri-dexel upgrade + a force layer — where the carver earns its place.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5047488"/>
            <a:ext cx="365760" cy="365760"/>
          </a:xfrm>
          <a:prstGeom prst="ellipse">
            <a:avLst/>
          </a:prstGeom>
          <a:solidFill>
            <a:srgbClr val="4A556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5047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65392" y="4983480"/>
            <a:ext cx="5093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RL model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Optimises reward directly in the simulator, so it can surpass the GA / imitation ceiling instead of merely copying dataset paths.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asset, and the build order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tested gcode-in carver is used in two places with two maturities: ready today as the Phase-1 labeller, to be extended as the Phase-2 RL environment.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E4F2ED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029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today  </a:t>
            </a:r>
            <a:pPr indent="0" marL="0">
              <a:buNone/>
            </a:pPr>
            <a:r>
              <a:rPr lang="en-US" sz="1600" i="1" dirty="0">
                <a:solidFill>
                  <a:srgbClr val="0F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Phase-1 labeller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deterministic gcode; the carver returns the carved solid and the process-true labels (scallop, fillets, rest material). No new work beyond choosing what stays analytic.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68503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7ECD9"/>
          </a:solidFill>
          <a:ln w="9525">
            <a:solidFill>
              <a:srgbClr val="DCE2E7"/>
            </a:solidFill>
            <a:prstDash val="solid"/>
          </a:ln>
          <a:effectLst>
            <a:outerShdw sx="100000" sy="100000" kx="0" ky="0" algn="bl" rotWithShape="0" blurRad="88900" dist="25400" dir="5400000">
              <a:srgbClr val="1C2733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extend  </a:t>
            </a:r>
            <a:pPr indent="0" marL="0">
              <a:buNone/>
            </a:pPr>
            <a:r>
              <a:rPr lang="en-US" sz="1600" i="1" dirty="0">
                <a:solidFill>
                  <a:srgbClr val="B875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Phase-2 RL environment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43434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RL-generated paths and compute peak instantaneous engagement / chip load (not average MRR). Requires the tri-dexel upgrade for wall fidelity plus a force layer.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73368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order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73368" y="2304288"/>
            <a:ext cx="384048" cy="384048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12" name="Text 10"/>
          <p:cNvSpPr/>
          <p:nvPr/>
        </p:nvSpPr>
        <p:spPr>
          <a:xfrm>
            <a:off x="63733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22008" y="22585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contract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intermediate representation A/B/C emit and stage 3/4 consumes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73368" y="3145536"/>
            <a:ext cx="384048" cy="384048"/>
          </a:xfrm>
          <a:prstGeom prst="ellipse">
            <a:avLst/>
          </a:prstGeom>
          <a:solidFill>
            <a:srgbClr val="0F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22008" y="309981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 on B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subtractive generator end-to-end → gcode → existing carver (closes Phase 1)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73368" y="3986784"/>
            <a:ext cx="384048" cy="384048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22008" y="394106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and C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height-field and templates as extra shape sources against the proven interface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73368" y="4828032"/>
            <a:ext cx="384048" cy="384048"/>
          </a:xfrm>
          <a:prstGeom prst="ellipse">
            <a:avLst/>
          </a:prstGeom>
          <a:solidFill>
            <a:srgbClr val="B87514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22008" y="478231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Phase 2 + tri-dexel</a:t>
            </a:r>
            <a:endParaRPr lang="en-US" sz="13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A46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— tri-dexel and engagement serve only the RL environment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5DCA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21488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intermediate-representation contract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36118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stage-1 generator emits, and what stage 3/4 expects to consume. It is the single interface that makes every downstream generator delegable and the whole pipeline buildable in parallel.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5257800"/>
            <a:ext cx="219456" cy="219456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5257800"/>
            <a:ext cx="219456" cy="219456"/>
          </a:xfrm>
          <a:prstGeom prst="ellipse">
            <a:avLst/>
          </a:prstGeom>
          <a:solidFill>
            <a:srgbClr val="4B42A8"/>
          </a:solidFill>
          <a:ln/>
        </p:spPr>
      </p:sp>
      <p:sp>
        <p:nvSpPr>
          <p:cNvPr id="7" name="Shape 5"/>
          <p:cNvSpPr/>
          <p:nvPr/>
        </p:nvSpPr>
        <p:spPr>
          <a:xfrm>
            <a:off x="1444752" y="5257800"/>
            <a:ext cx="219456" cy="219456"/>
          </a:xfrm>
          <a:prstGeom prst="ellipse">
            <a:avLst/>
          </a:prstGeom>
          <a:solidFill>
            <a:srgbClr val="6B778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AutoCAM — Synthetic Dataset Generation for Learned CNC Toolpath Planning</dc:title>
  <dc:subject>PptxGenJS Presentation</dc:subject>
  <dc:creator>AutoCAM</dc:creator>
  <cp:lastModifiedBy>AutoCAM</cp:lastModifiedBy>
  <cp:revision>1</cp:revision>
  <dcterms:created xsi:type="dcterms:W3CDTF">2026-07-02T19:45:22Z</dcterms:created>
  <dcterms:modified xsi:type="dcterms:W3CDTF">2026-07-02T19:45:22Z</dcterms:modified>
</cp:coreProperties>
</file>